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1">
                <a:solidFill>
                  <a:srgbClr val="05685F"/>
                </a:solidFill>
                <a:latin typeface="Aptos"/>
              </a:rPr>
              <a:t>DIABETES MODEL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20040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0">
                <a:solidFill>
                  <a:srgbClr val="35514C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19672"/>
            <a:ext cx="685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1">
                <a:solidFill>
                  <a:srgbClr val="35514C"/>
                </a:solidFill>
                <a:latin typeface="Aptos"/>
              </a:rPr>
              <a:t>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4114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0">
                <a:solidFill>
                  <a:srgbClr val="35514C"/>
                </a:solidFill>
                <a:latin typeface="Aptos"/>
              </a:rPr>
              <a:t>Working Next.js prototype · educational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49039" cy="11430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900" b="0">
                <a:solidFill>
                  <a:srgbClr val="172F2D"/>
                </a:solidFill>
                <a:latin typeface="Georgia"/>
              </a:rPr>
              <a:t>The app starts
with one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322576"/>
            <a:ext cx="347472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500" b="1">
                <a:solidFill>
                  <a:srgbClr val="05685F"/>
                </a:solidFill>
                <a:latin typeface="Aptos"/>
              </a:rPr>
              <a:t>What do these models see?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3566160" cy="9144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500" b="0">
                <a:solidFill>
                  <a:srgbClr val="35514C"/>
                </a:solidFill>
                <a:latin typeface="Georgia"/>
              </a:rPr>
              <a:t>The overview turns an ensemble-learning study into a visual reading: one profile, eight signals, and two different ways to combine small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4041648"/>
            <a:ext cx="3337560" cy="914400"/>
          </a:xfrm>
          <a:prstGeom prst="rect">
            <a:avLst/>
          </a:prstGeom>
          <a:solidFill>
            <a:srgbClr val="123F3B"/>
          </a:solidFill>
          <a:ln w="7620">
            <a:solidFill>
              <a:srgbClr val="12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242816"/>
            <a:ext cx="2880360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500" b="0">
                <a:solidFill>
                  <a:srgbClr val="F7FAF5"/>
                </a:solidFill>
                <a:latin typeface="Georgia"/>
              </a:rPr>
              <a:t>Both learners read the same record.
Their learning habits are different.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945514"/>
            <a:ext cx="7178040" cy="5012690"/>
          </a:xfrm>
          <a:prstGeom prst="rect">
            <a:avLst/>
          </a:prstGeom>
          <a:solidFill>
            <a:srgbClr val="F7FAF5"/>
          </a:solidFill>
          <a:ln w="7620">
            <a:solidFill>
              <a:srgbClr val="B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1234"/>
            <a:ext cx="7086600" cy="492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1">
                <a:solidFill>
                  <a:srgbClr val="05685F"/>
                </a:solidFill>
                <a:latin typeface="Aptos"/>
              </a:rPr>
              <a:t>DIABETES MODEL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20040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0">
                <a:solidFill>
                  <a:srgbClr val="35514C"/>
                </a:solidFill>
                <a:latin typeface="Aptos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19672"/>
            <a:ext cx="685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1">
                <a:solidFill>
                  <a:srgbClr val="35514C"/>
                </a:solidFill>
                <a:latin typeface="Aptos"/>
              </a:rP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4114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0">
                <a:solidFill>
                  <a:srgbClr val="35514C"/>
                </a:solidFill>
                <a:latin typeface="Aptos"/>
              </a:rPr>
              <a:t>Working Next.js prototype · educational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49039" cy="10972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3000" b="0">
                <a:solidFill>
                  <a:srgbClr val="172F2D"/>
                </a:solidFill>
                <a:latin typeface="Georgia"/>
              </a:rPr>
              <a:t>One profile,
two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395728"/>
            <a:ext cx="3383280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05685F"/>
                </a:solidFill>
                <a:latin typeface="Aptos"/>
              </a:rPr>
              <a:t>The working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34640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25496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Enter eight fields from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493008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83864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Send the same profile to both trained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151376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142232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Read lower or higher likelihood in plain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047488"/>
            <a:ext cx="3337560" cy="658368"/>
          </a:xfrm>
          <a:prstGeom prst="rect">
            <a:avLst/>
          </a:prstGeom>
          <a:solidFill>
            <a:srgbClr val="E5CC70"/>
          </a:solidFill>
          <a:ln w="7620">
            <a:solidFill>
              <a:srgbClr val="E5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02936"/>
            <a:ext cx="2907792" cy="329184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200" b="0">
                <a:solidFill>
                  <a:srgbClr val="172F2D"/>
                </a:solidFill>
                <a:latin typeface="Georgia"/>
              </a:rPr>
              <a:t>The percentage is a model output — not a diagnosis or a personal medical risk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945514"/>
            <a:ext cx="7178040" cy="5012690"/>
          </a:xfrm>
          <a:prstGeom prst="rect">
            <a:avLst/>
          </a:prstGeom>
          <a:solidFill>
            <a:srgbClr val="F7FAF5"/>
          </a:solidFill>
          <a:ln w="7620">
            <a:solidFill>
              <a:srgbClr val="B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predic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1234"/>
            <a:ext cx="7086600" cy="4921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1">
                <a:solidFill>
                  <a:srgbClr val="05685F"/>
                </a:solidFill>
                <a:latin typeface="Aptos"/>
              </a:rPr>
              <a:t>DIABETES MODEL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20040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0">
                <a:solidFill>
                  <a:srgbClr val="35514C"/>
                </a:solidFill>
                <a:latin typeface="Aptos"/>
              </a:rPr>
              <a:t>Compare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19672"/>
            <a:ext cx="685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1">
                <a:solidFill>
                  <a:srgbClr val="35514C"/>
                </a:solidFill>
                <a:latin typeface="Aptos"/>
              </a:rP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4114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0">
                <a:solidFill>
                  <a:srgbClr val="35514C"/>
                </a:solidFill>
                <a:latin typeface="Aptos"/>
              </a:rPr>
              <a:t>Working Next.js prototype · educational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49039" cy="10972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3000" b="0">
                <a:solidFill>
                  <a:srgbClr val="172F2D"/>
                </a:solidFill>
                <a:latin typeface="Georgia"/>
              </a:rPr>
              <a:t>A score answers
a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395728"/>
            <a:ext cx="3474720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05685F"/>
                </a:solidFill>
                <a:latin typeface="Aptos"/>
              </a:rPr>
              <a:t>Why the table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52928"/>
            <a:ext cx="3611880" cy="10972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35514C"/>
                </a:solidFill>
                <a:latin typeface="Georgia"/>
              </a:rPr>
              <a:t>Accuracy asks how often the whole prediction was correct. Precision asks how often a positive flag was right. Recall asks how many recorded positive cases were found.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4343400"/>
            <a:ext cx="3337560" cy="987552"/>
          </a:xfrm>
          <a:prstGeom prst="rect">
            <a:avLst/>
          </a:prstGeom>
          <a:solidFill>
            <a:srgbClr val="F7FAF5"/>
          </a:solidFill>
          <a:ln w="7620">
            <a:solidFill>
              <a:srgbClr val="F7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35424"/>
            <a:ext cx="2852928" cy="59436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Georgia"/>
              </a:rPr>
              <a:t>In this held-out test, Gradient Boosting edges ahead on ROC-AUC and recall. Random Forest has the higher precision.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945514"/>
            <a:ext cx="7178040" cy="5012690"/>
          </a:xfrm>
          <a:prstGeom prst="rect">
            <a:avLst/>
          </a:prstGeom>
          <a:solidFill>
            <a:srgbClr val="F7FAF5"/>
          </a:solidFill>
          <a:ln w="7620">
            <a:solidFill>
              <a:srgbClr val="B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compare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1234"/>
            <a:ext cx="7086600" cy="4921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1">
                <a:solidFill>
                  <a:srgbClr val="05685F"/>
                </a:solidFill>
                <a:latin typeface="Aptos"/>
              </a:rPr>
              <a:t>DIABETES MODEL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200400" cy="1828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0">
                <a:solidFill>
                  <a:srgbClr val="35514C"/>
                </a:solidFill>
                <a:latin typeface="Aptos"/>
              </a:rPr>
              <a:t>Understand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19672"/>
            <a:ext cx="685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00" b="1">
                <a:solidFill>
                  <a:srgbClr val="35514C"/>
                </a:solidFill>
                <a:latin typeface="Aptos"/>
              </a:rP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4114800" cy="164592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800" b="0">
                <a:solidFill>
                  <a:srgbClr val="35514C"/>
                </a:solidFill>
                <a:latin typeface="Aptos"/>
              </a:rPr>
              <a:t>Working Next.js prototype · educational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49039" cy="109728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900" b="0">
                <a:solidFill>
                  <a:srgbClr val="172F2D"/>
                </a:solidFill>
                <a:latin typeface="Georgia"/>
              </a:rPr>
              <a:t>What the models
are allowed to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395728"/>
            <a:ext cx="3474720" cy="29260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05685F"/>
                </a:solidFill>
                <a:latin typeface="Aptos"/>
              </a:rPr>
              <a:t>The study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34640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25496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100,000 records and 20,000 held out for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493008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83864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Eight inputs: history, categories, BMI, HbA1c, and glucose.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151376"/>
            <a:ext cx="164592" cy="21945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600" b="1">
                <a:solidFill>
                  <a:srgbClr val="A8443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142232"/>
            <a:ext cx="3264408" cy="45720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300" b="0">
                <a:solidFill>
                  <a:srgbClr val="172F2D"/>
                </a:solidFill>
                <a:latin typeface="Aptos"/>
              </a:rPr>
              <a:t>The pipeline handles categories, missing values, scale, and extremes.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047488"/>
            <a:ext cx="3337560" cy="658368"/>
          </a:xfrm>
          <a:prstGeom prst="rect">
            <a:avLst/>
          </a:prstGeom>
          <a:solidFill>
            <a:srgbClr val="123F3B"/>
          </a:solidFill>
          <a:ln w="7620">
            <a:solidFill>
              <a:srgbClr val="12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02936"/>
            <a:ext cx="2907792" cy="329184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200" b="0">
                <a:solidFill>
                  <a:srgbClr val="F7FAF5"/>
                </a:solidFill>
                <a:latin typeface="Georgia"/>
              </a:rPr>
              <a:t>Feature importance describes model reliance. It does not prove cause.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945514"/>
            <a:ext cx="7178040" cy="5012690"/>
          </a:xfrm>
          <a:prstGeom prst="rect">
            <a:avLst/>
          </a:prstGeom>
          <a:solidFill>
            <a:srgbClr val="F7FAF5"/>
          </a:solidFill>
          <a:ln w="7620">
            <a:solidFill>
              <a:srgbClr val="B8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understand-the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1234"/>
            <a:ext cx="7086600" cy="492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