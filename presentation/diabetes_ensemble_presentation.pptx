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58368"/>
            <a:ext cx="411480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000" b="1">
                <a:solidFill>
                  <a:srgbClr val="E7F6F3"/>
                </a:solidFill>
                <a:latin typeface="Aptos"/>
              </a:rPr>
              <a:t>ENSEMBLE MODELING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7040880" cy="155448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"/>
              </a:rPr>
              <a:t>Predicting diabetes
with two powerful lenses.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00400"/>
            <a:ext cx="4754880" cy="36576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E7F6F3"/>
                </a:solidFill>
                <a:latin typeface="Aptos"/>
              </a:rPr>
              <a:t>Random Forest  ×  Gradient Boosting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840480"/>
            <a:ext cx="5486400" cy="7315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A concise comparison of preprocessing, tuning, evaluation, and real-world interpretation using the faculty-approved Kaggle dataset.</a:t>
            </a:r>
          </a:p>
        </p:txBody>
      </p:sp>
      <p:sp>
        <p:nvSpPr>
          <p:cNvPr id="6" name="Oval 5"/>
          <p:cNvSpPr/>
          <p:nvPr/>
        </p:nvSpPr>
        <p:spPr>
          <a:xfrm>
            <a:off x="7772400" y="1280160"/>
            <a:ext cx="2926080" cy="2926080"/>
          </a:xfrm>
          <a:prstGeom prst="ellipse">
            <a:avLst/>
          </a:prstGeom>
          <a:solidFill>
            <a:srgbClr val="198B83"/>
          </a:solidFill>
          <a:ln>
            <a:solidFill>
              <a:srgbClr val="198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2011680"/>
            <a:ext cx="2194560" cy="5486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Aptos"/>
              </a:rPr>
              <a:t>RF  ×  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2761488"/>
            <a:ext cx="2103120" cy="64008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100" b="1">
                <a:solidFill>
                  <a:srgbClr val="E7F6F3"/>
                </a:solidFill>
                <a:latin typeface="Aptos"/>
              </a:rPr>
              <a:t>clinical signals
→ model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700" b="1">
                <a:solidFill>
                  <a:srgbClr val="6F7E88"/>
                </a:solidFill>
                <a:latin typeface="Aptos"/>
              </a:rPr>
              <a:t>DIABETES ENSEMBLE LAB  •  MINI-PROJECT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700" b="1">
                <a:solidFill>
                  <a:srgbClr val="6F7E88"/>
                </a:solidFill>
                <a:latin typeface="Aptos"/>
              </a:rPr>
              <a:t>01 /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75488"/>
            <a:ext cx="411480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1">
                <a:solidFill>
                  <a:srgbClr val="198B83"/>
                </a:solidFill>
                <a:latin typeface="Aptos"/>
              </a:rPr>
              <a:t>01  /  DATA +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8595360" cy="5029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400" b="1">
                <a:solidFill>
                  <a:srgbClr val="172D3A"/>
                </a:solidFill>
                <a:latin typeface="Aptos"/>
              </a:rPr>
              <a:t>From patient signals to tuned ensembles.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3337560" cy="1170432"/>
          </a:xfrm>
          <a:prstGeom prst="roundRect">
            <a:avLst/>
          </a:prstGeom>
          <a:solidFill>
            <a:srgbClr val="E7F6F3"/>
          </a:solidFill>
          <a:ln w="889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65376"/>
            <a:ext cx="594360" cy="347472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100" b="1">
                <a:solidFill>
                  <a:srgbClr val="198B83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56231"/>
            <a:ext cx="210312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800" b="1">
                <a:solidFill>
                  <a:srgbClr val="198B83"/>
                </a:solidFill>
                <a:latin typeface="Aptos"/>
              </a:rPr>
              <a:t>INPUT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03120"/>
            <a:ext cx="2194560" cy="4572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000" b="0">
                <a:solidFill>
                  <a:srgbClr val="2C3D48"/>
                </a:solidFill>
                <a:latin typeface="Aptos"/>
              </a:rPr>
              <a:t>Age, BMI, HbA1c, glucose,
conditions, and categories.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691640"/>
            <a:ext cx="3337560" cy="1170432"/>
          </a:xfrm>
          <a:prstGeom prst="roundRect">
            <a:avLst/>
          </a:prstGeom>
          <a:solidFill>
            <a:srgbClr val="E7F6F3"/>
          </a:solidFill>
          <a:ln w="889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1865376"/>
            <a:ext cx="594360" cy="347472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100" b="1">
                <a:solidFill>
                  <a:srgbClr val="198B83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21808" y="1856231"/>
            <a:ext cx="210312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800" b="1">
                <a:solidFill>
                  <a:srgbClr val="198B83"/>
                </a:solidFill>
                <a:latin typeface="Aptos"/>
              </a:rPr>
              <a:t>BINARY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808" y="2103120"/>
            <a:ext cx="2194560" cy="4572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000" b="0">
                <a:solidFill>
                  <a:srgbClr val="2C3D48"/>
                </a:solidFill>
                <a:latin typeface="Aptos"/>
              </a:rPr>
              <a:t>diabetes = 0 or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1691640"/>
            <a:ext cx="3337560" cy="1170432"/>
          </a:xfrm>
          <a:prstGeom prst="roundRect">
            <a:avLst/>
          </a:prstGeom>
          <a:solidFill>
            <a:srgbClr val="E7F6F3"/>
          </a:solidFill>
          <a:ln w="889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5" y="1865376"/>
            <a:ext cx="594360" cy="347472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100" b="1">
                <a:solidFill>
                  <a:srgbClr val="198B83"/>
                </a:solidFill>
                <a:latin typeface="Aptos"/>
              </a:rPr>
              <a:t>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9136" y="1856231"/>
            <a:ext cx="210312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800" b="1">
                <a:solidFill>
                  <a:srgbClr val="198B83"/>
                </a:solidFill>
                <a:latin typeface="Aptos"/>
              </a:rPr>
              <a:t>RANDOMIZED TUNING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9136" y="2103120"/>
            <a:ext cx="2194560" cy="4572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000" b="0">
                <a:solidFill>
                  <a:srgbClr val="2C3D48"/>
                </a:solidFill>
                <a:latin typeface="Aptos"/>
              </a:rPr>
              <a:t>Stratified search keeps
class balance visible.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401568"/>
            <a:ext cx="292608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1">
                <a:solidFill>
                  <a:srgbClr val="6F7E88"/>
                </a:solidFill>
                <a:latin typeface="Aptos"/>
              </a:rPr>
              <a:t>PREPROCESSING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813048"/>
            <a:ext cx="320040" cy="219456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1">
                <a:solidFill>
                  <a:srgbClr val="198B83"/>
                </a:solidFill>
                <a:latin typeface="Aptos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133087"/>
            <a:ext cx="1600200" cy="256032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200" b="1">
                <a:solidFill>
                  <a:srgbClr val="172D3A"/>
                </a:solidFill>
                <a:latin typeface="Aptos"/>
              </a:rPr>
              <a:t>Validate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62272"/>
            <a:ext cx="164592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6F7E88"/>
                </a:solidFill>
                <a:latin typeface="Aptos"/>
              </a:rPr>
              <a:t>types +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4114800"/>
            <a:ext cx="27432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600" b="1">
                <a:solidFill>
                  <a:srgbClr val="EF7C63"/>
                </a:solidFill>
                <a:latin typeface="Aptos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1215" y="3813048"/>
            <a:ext cx="320040" cy="219456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1">
                <a:solidFill>
                  <a:srgbClr val="198B83"/>
                </a:solidFill>
                <a:latin typeface="Aptos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71215" y="4133087"/>
            <a:ext cx="1600200" cy="256032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200" b="1">
                <a:solidFill>
                  <a:srgbClr val="172D3A"/>
                </a:solidFill>
                <a:latin typeface="Aptos"/>
              </a:rPr>
              <a:t>Impute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71215" y="4462272"/>
            <a:ext cx="164592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6F7E88"/>
                </a:solidFill>
                <a:latin typeface="Aptos"/>
              </a:rPr>
              <a:t>median / mode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114800"/>
            <a:ext cx="27432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600" b="1">
                <a:solidFill>
                  <a:srgbClr val="EF7C63"/>
                </a:solidFill>
                <a:latin typeface="Aptos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3813048"/>
            <a:ext cx="320040" cy="219456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1">
                <a:solidFill>
                  <a:srgbClr val="198B83"/>
                </a:solidFill>
                <a:latin typeface="Apto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4064" y="4133087"/>
            <a:ext cx="1600200" cy="256032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200" b="1">
                <a:solidFill>
                  <a:srgbClr val="172D3A"/>
                </a:solidFill>
                <a:latin typeface="Aptos"/>
              </a:rPr>
              <a:t>Encode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4064" y="4462272"/>
            <a:ext cx="164592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6F7E88"/>
                </a:solidFill>
                <a:latin typeface="Aptos"/>
              </a:rPr>
              <a:t>one-hot categories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7416" y="4114800"/>
            <a:ext cx="27432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600" b="1">
                <a:solidFill>
                  <a:srgbClr val="EF7C63"/>
                </a:solidFill>
                <a:latin typeface="Aptos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96912" y="3813048"/>
            <a:ext cx="320040" cy="219456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1">
                <a:solidFill>
                  <a:srgbClr val="198B83"/>
                </a:solidFill>
                <a:latin typeface="Apto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96912" y="4133087"/>
            <a:ext cx="1600200" cy="256032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200" b="1">
                <a:solidFill>
                  <a:srgbClr val="172D3A"/>
                </a:solidFill>
                <a:latin typeface="Aptos"/>
              </a:rPr>
              <a:t>Clip + 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4462272"/>
            <a:ext cx="164592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6F7E88"/>
                </a:solidFill>
                <a:latin typeface="Aptos"/>
              </a:rPr>
              <a:t>IQR + standardize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0263" y="4114800"/>
            <a:ext cx="27432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600" b="1">
                <a:solidFill>
                  <a:srgbClr val="EF7C63"/>
                </a:solidFill>
                <a:latin typeface="Aptos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3813048"/>
            <a:ext cx="320040" cy="219456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1">
                <a:solidFill>
                  <a:srgbClr val="198B83"/>
                </a:solidFill>
                <a:latin typeface="Apto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4133087"/>
            <a:ext cx="1600200" cy="256032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200" b="1">
                <a:solidFill>
                  <a:srgbClr val="172D3A"/>
                </a:solidFill>
                <a:latin typeface="Aptos"/>
              </a:rPr>
              <a:t>Fit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4462272"/>
            <a:ext cx="164592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6F7E88"/>
                </a:solidFill>
                <a:latin typeface="Aptos"/>
              </a:rPr>
              <a:t>two ensembles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138928"/>
            <a:ext cx="10835640" cy="566928"/>
          </a:xfrm>
          <a:prstGeom prst="roundRect">
            <a:avLst/>
          </a:prstGeom>
          <a:solidFill>
            <a:srgbClr val="172D3A"/>
          </a:solidFill>
          <a:ln w="8890">
            <a:solidFill>
              <a:srgbClr val="17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276088"/>
            <a:ext cx="10332720" cy="237744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Random Forest averages independent tree votes. Gradient Boosting corrects earlier tree errors sequentially.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700" b="1">
                <a:solidFill>
                  <a:srgbClr val="6F7E88"/>
                </a:solidFill>
                <a:latin typeface="Aptos"/>
              </a:rPr>
              <a:t>DIABETES ENSEMBLE LAB  •  MINI-PROJECT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700" b="1">
                <a:solidFill>
                  <a:srgbClr val="6F7E88"/>
                </a:solidFill>
                <a:latin typeface="Aptos"/>
              </a:rPr>
              <a:t>02 / 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75488"/>
            <a:ext cx="411480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1">
                <a:solidFill>
                  <a:srgbClr val="198B83"/>
                </a:solidFill>
                <a:latin typeface="Aptos"/>
              </a:rPr>
              <a:t>02  / 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41248"/>
            <a:ext cx="7315200" cy="5029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400" b="1">
                <a:solidFill>
                  <a:srgbClr val="172D3A"/>
                </a:solidFill>
                <a:latin typeface="Aptos"/>
              </a:rPr>
              <a:t>Compare more than accuracy.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389888"/>
            <a:ext cx="640080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000" b="0">
                <a:solidFill>
                  <a:srgbClr val="6F7E88"/>
                </a:solidFill>
                <a:latin typeface="Aptos"/>
              </a:rPr>
              <a:t>Held-out validation metrics after randomized hyperparameter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310896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800" b="1">
                <a:solidFill>
                  <a:srgbClr val="6F7E88"/>
                </a:solidFill>
                <a:latin typeface="Aptos"/>
              </a:rPr>
              <a:t>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1947672"/>
            <a:ext cx="310896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800" b="1">
                <a:solidFill>
                  <a:srgbClr val="6F7E88"/>
                </a:solidFill>
                <a:latin typeface="Aptos"/>
              </a:rPr>
              <a:t>RANDOM 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47672"/>
            <a:ext cx="310896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800" b="1">
                <a:solidFill>
                  <a:srgbClr val="6F7E88"/>
                </a:solidFill>
                <a:latin typeface="Aptos"/>
              </a:rPr>
              <a:t>GRADIENT BOOSTING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100" b="0">
                <a:solidFill>
                  <a:srgbClr val="2C3D48"/>
                </a:solidFill>
                <a:latin typeface="Aptos"/>
              </a:rPr>
              <a:t>Accuracy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2295144"/>
            <a:ext cx="2194560" cy="347472"/>
          </a:xfrm>
          <a:prstGeom prst="roundRect">
            <a:avLst/>
          </a:prstGeom>
          <a:solidFill>
            <a:srgbClr val="E7F6F3"/>
          </a:solidFill>
          <a:ln w="8890">
            <a:solidFill>
              <a:srgbClr val="DC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16368" y="2295144"/>
            <a:ext cx="2194560" cy="347472"/>
          </a:xfrm>
          <a:prstGeom prst="roundRect">
            <a:avLst/>
          </a:prstGeom>
          <a:solidFill>
            <a:srgbClr val="E7F6F3"/>
          </a:solidFill>
          <a:ln w="8890">
            <a:solidFill>
              <a:srgbClr val="DC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50208" y="2313432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300" b="1">
                <a:solidFill>
                  <a:srgbClr val="198B83"/>
                </a:solidFill>
                <a:latin typeface="Aptos"/>
              </a:rPr>
              <a:t>0.972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2313432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300" b="1">
                <a:solidFill>
                  <a:srgbClr val="198B83"/>
                </a:solidFill>
                <a:latin typeface="Aptos"/>
              </a:rPr>
              <a:t>0.972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52927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100" b="0">
                <a:solidFill>
                  <a:srgbClr val="2C3D48"/>
                </a:solidFill>
                <a:latin typeface="Aptos"/>
              </a:rPr>
              <a:t>Precision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50208" y="2816351"/>
            <a:ext cx="2194560" cy="347472"/>
          </a:xfrm>
          <a:prstGeom prst="roundRect">
            <a:avLst/>
          </a:prstGeom>
          <a:solidFill>
            <a:srgbClr val="E7F6F3"/>
          </a:solidFill>
          <a:ln w="8890">
            <a:solidFill>
              <a:srgbClr val="DC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16368" y="2816351"/>
            <a:ext cx="2194560" cy="347472"/>
          </a:xfrm>
          <a:prstGeom prst="roundRect">
            <a:avLst/>
          </a:prstGeom>
          <a:solidFill>
            <a:srgbClr val="E7F6F3"/>
          </a:solidFill>
          <a:ln w="8890">
            <a:solidFill>
              <a:srgbClr val="DC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50208" y="2834639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300" b="1">
                <a:solidFill>
                  <a:srgbClr val="198B83"/>
                </a:solidFill>
                <a:latin typeface="Aptos"/>
              </a:rPr>
              <a:t>1.000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6368" y="2834639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300" b="1">
                <a:solidFill>
                  <a:srgbClr val="198B83"/>
                </a:solidFill>
                <a:latin typeface="Aptos"/>
              </a:rPr>
              <a:t>0.993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74135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100" b="0">
                <a:solidFill>
                  <a:srgbClr val="2C3D48"/>
                </a:solidFill>
                <a:latin typeface="Aptos"/>
              </a:rPr>
              <a:t>Recall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50208" y="3337559"/>
            <a:ext cx="2194560" cy="347472"/>
          </a:xfrm>
          <a:prstGeom prst="roundRect">
            <a:avLst/>
          </a:prstGeom>
          <a:solidFill>
            <a:srgbClr val="E7F6F3"/>
          </a:solidFill>
          <a:ln w="8890">
            <a:solidFill>
              <a:srgbClr val="DC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16368" y="3337559"/>
            <a:ext cx="2194560" cy="347472"/>
          </a:xfrm>
          <a:prstGeom prst="roundRect">
            <a:avLst/>
          </a:prstGeom>
          <a:solidFill>
            <a:srgbClr val="E7F6F3"/>
          </a:solidFill>
          <a:ln w="8890">
            <a:solidFill>
              <a:srgbClr val="DC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3355847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300" b="1">
                <a:solidFill>
                  <a:srgbClr val="198B83"/>
                </a:solidFill>
                <a:latin typeface="Aptos"/>
              </a:rPr>
              <a:t>0.675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8" y="3355847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300" b="1">
                <a:solidFill>
                  <a:srgbClr val="198B83"/>
                </a:solidFill>
                <a:latin typeface="Aptos"/>
              </a:rPr>
              <a:t>0.679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895344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100" b="0">
                <a:solidFill>
                  <a:srgbClr val="2C3D48"/>
                </a:solidFill>
                <a:latin typeface="Aptos"/>
              </a:rPr>
              <a:t>F1 score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50208" y="3858768"/>
            <a:ext cx="2194560" cy="347472"/>
          </a:xfrm>
          <a:prstGeom prst="roundRect">
            <a:avLst/>
          </a:prstGeom>
          <a:solidFill>
            <a:srgbClr val="E7F6F3"/>
          </a:solidFill>
          <a:ln w="8890">
            <a:solidFill>
              <a:srgbClr val="DC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16368" y="3858768"/>
            <a:ext cx="2194560" cy="347472"/>
          </a:xfrm>
          <a:prstGeom prst="roundRect">
            <a:avLst/>
          </a:prstGeom>
          <a:solidFill>
            <a:srgbClr val="E7F6F3"/>
          </a:solidFill>
          <a:ln w="8890">
            <a:solidFill>
              <a:srgbClr val="DC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50208" y="3877056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300" b="1">
                <a:solidFill>
                  <a:srgbClr val="198B83"/>
                </a:solidFill>
                <a:latin typeface="Aptos"/>
              </a:rPr>
              <a:t>0.806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16368" y="3877056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300" b="1">
                <a:solidFill>
                  <a:srgbClr val="198B83"/>
                </a:solidFill>
                <a:latin typeface="Aptos"/>
              </a:rPr>
              <a:t>0.806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416552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100" b="1">
                <a:solidFill>
                  <a:srgbClr val="2C3D48"/>
                </a:solidFill>
                <a:latin typeface="Aptos"/>
              </a:rPr>
              <a:t>ROC-AUC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50208" y="4379976"/>
            <a:ext cx="2194560" cy="347472"/>
          </a:xfrm>
          <a:prstGeom prst="roundRect">
            <a:avLst/>
          </a:prstGeom>
          <a:solidFill>
            <a:srgbClr val="E7F6F3"/>
          </a:solidFill>
          <a:ln w="8890">
            <a:solidFill>
              <a:srgbClr val="DC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16368" y="4379976"/>
            <a:ext cx="2194560" cy="347472"/>
          </a:xfrm>
          <a:prstGeom prst="roundRect">
            <a:avLst/>
          </a:prstGeom>
          <a:solidFill>
            <a:srgbClr val="E7F6F3"/>
          </a:solidFill>
          <a:ln w="8890">
            <a:solidFill>
              <a:srgbClr val="DC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50208" y="4398264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300" b="1">
                <a:solidFill>
                  <a:srgbClr val="198B83"/>
                </a:solidFill>
                <a:latin typeface="Aptos"/>
              </a:rPr>
              <a:t>0.976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4398264"/>
            <a:ext cx="21945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300" b="1">
                <a:solidFill>
                  <a:srgbClr val="198B83"/>
                </a:solidFill>
                <a:latin typeface="Aptos"/>
              </a:rPr>
              <a:t>0.979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166360"/>
            <a:ext cx="10012680" cy="603504"/>
          </a:xfrm>
          <a:prstGeom prst="roundRect">
            <a:avLst/>
          </a:prstGeom>
          <a:solidFill>
            <a:srgbClr val="E7F6F3"/>
          </a:solidFill>
          <a:ln w="8890">
            <a:solidFill>
              <a:srgbClr val="E7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5340096"/>
            <a:ext cx="950976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000" b="1">
                <a:solidFill>
                  <a:srgbClr val="2C3D48"/>
                </a:solidFill>
                <a:latin typeface="Aptos"/>
              </a:rPr>
              <a:t>Use ROC-AUC and F1 alongside recall to justify the model selected for the final demo.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700" b="1">
                <a:solidFill>
                  <a:srgbClr val="6F7E88"/>
                </a:solidFill>
                <a:latin typeface="Aptos"/>
              </a:rPr>
              <a:t>DIABETES ENSEMBLE LAB  •  MINI-PROJECT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700" b="1">
                <a:solidFill>
                  <a:srgbClr val="6F7E88"/>
                </a:solidFill>
                <a:latin typeface="Aptos"/>
              </a:rPr>
              <a:t>03 /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75488"/>
            <a:ext cx="411480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1">
                <a:solidFill>
                  <a:srgbClr val="E7F6F3"/>
                </a:solidFill>
                <a:latin typeface="Aptos"/>
              </a:rPr>
              <a:t>03  / 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6583680" cy="11430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The best model is the one
that fits the decision.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14600"/>
            <a:ext cx="3657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000" b="1">
                <a:solidFill>
                  <a:srgbClr val="EF7C63"/>
                </a:solidFill>
                <a:latin typeface="Apto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2514600"/>
            <a:ext cx="274320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Read the trade-off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514600"/>
            <a:ext cx="7132320" cy="4572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000" b="0">
                <a:solidFill>
                  <a:srgbClr val="E7F6F3"/>
                </a:solidFill>
                <a:latin typeface="Aptos"/>
              </a:rPr>
              <a:t>Recall protects against missed positive cases; precision limits unnecessary alarms.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3657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000" b="1">
                <a:solidFill>
                  <a:srgbClr val="EF7C63"/>
                </a:solidFill>
                <a:latin typeface="Apto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429000"/>
            <a:ext cx="274320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Explain the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29000"/>
            <a:ext cx="7132320" cy="4572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000" b="0">
                <a:solidFill>
                  <a:srgbClr val="E7F6F3"/>
                </a:solidFill>
                <a:latin typeface="Aptos"/>
              </a:rPr>
              <a:t>Feature importance shows model reliance, not causation. Discuss glucose, HbA1c, BMI, and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43400"/>
            <a:ext cx="36576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000" b="1">
                <a:solidFill>
                  <a:srgbClr val="EF7C63"/>
                </a:solidFill>
                <a:latin typeface="Apto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4343400"/>
            <a:ext cx="2743200" cy="2743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Keep the boundary clear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343400"/>
            <a:ext cx="7132320" cy="4572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000" b="0">
                <a:solidFill>
                  <a:srgbClr val="E7F6F3"/>
                </a:solidFill>
                <a:latin typeface="Aptos"/>
              </a:rPr>
              <a:t>A benchmark probability supports analysis. It is not a clinical diagnosis.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86400"/>
            <a:ext cx="10698480" cy="512064"/>
          </a:xfrm>
          <a:prstGeom prst="roundRect">
            <a:avLst/>
          </a:prstGeom>
          <a:solidFill>
            <a:srgbClr val="198B83"/>
          </a:solidFill>
          <a:ln w="8890">
            <a:solidFill>
              <a:srgbClr val="198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632704"/>
            <a:ext cx="10241280" cy="219456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Notebook  •  tuned artifacts  •  Vercel UI  •  reproducible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700" b="1">
                <a:solidFill>
                  <a:srgbClr val="6F7E88"/>
                </a:solidFill>
                <a:latin typeface="Aptos"/>
              </a:rPr>
              <a:t>DIABETES ENSEMBLE LAB  •  MINI-PROJECT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777240" cy="22860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700" b="1">
                <a:solidFill>
                  <a:srgbClr val="6F7E88"/>
                </a:solidFill>
                <a:latin typeface="Aptos"/>
              </a:rPr>
              <a:t>04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